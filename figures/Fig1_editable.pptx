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264275" cy="38163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50" d="100"/>
          <a:sy n="150" d="100"/>
        </p:scale>
        <p:origin x="672" y="-22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4000" y="108000"/>
            <a:ext cx="5976000" cy="1062000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404040"/>
            </a:solidFill>
            <a:prstDash val="dash"/>
          </a:ln>
          <a:effectLst/>
        </p:spPr>
        <p:txBody>
          <a:bodyPr wrap="square" lIns="36000" tIns="10800" rIns="36000" bIns="10800"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44000" y="1332000"/>
            <a:ext cx="4932000" cy="1440000"/>
          </a:xfrm>
          <a:prstGeom prst="roundRect">
            <a:avLst>
              <a:gd name="adj" fmla="val 3000"/>
            </a:avLst>
          </a:prstGeom>
          <a:noFill/>
          <a:ln w="9525">
            <a:solidFill>
              <a:srgbClr val="404040"/>
            </a:solidFill>
            <a:prstDash val="dash"/>
          </a:ln>
          <a:effectLst/>
        </p:spPr>
        <p:txBody>
          <a:bodyPr wrap="square" lIns="36000" tIns="10800" rIns="36000" bIns="1080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6000" y="153000"/>
            <a:ext cx="2160000" cy="14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Times New Roman"/>
              </a:rPr>
              <a:t>(a)  Fixed model and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93999" y="1425600"/>
            <a:ext cx="3420000" cy="14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 dirty="0">
                <a:solidFill>
                  <a:srgbClr val="000000"/>
                </a:solidFill>
                <a:latin typeface="Times New Roman"/>
              </a:rPr>
              <a:t>(c)  Sequential querying and prediction-set stopping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00" y="378000"/>
            <a:ext cx="1080000" cy="504000"/>
          </a:xfrm>
          <a:prstGeom prst="roundRect">
            <a:avLst>
              <a:gd name="adj" fmla="val 10000"/>
            </a:avLst>
          </a:prstGeom>
          <a:solidFill>
            <a:srgbClr val="BDDDF7"/>
          </a:solidFill>
          <a:ln w="9525">
            <a:solidFill>
              <a:srgbClr val="7BB9F0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Times New Roman"/>
              </a:rPr>
              <a:t>Training participants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000000"/>
                </a:solidFill>
                <a:latin typeface="Times New Roman"/>
              </a:rPr>
              <a:t>signals and labels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12000" y="378000"/>
            <a:ext cx="1440000" cy="504000"/>
          </a:xfrm>
          <a:prstGeom prst="roundRect">
            <a:avLst>
              <a:gd name="adj" fmla="val 10000"/>
            </a:avLst>
          </a:prstGeom>
          <a:solidFill>
            <a:srgbClr val="BDDDF7"/>
          </a:solidFill>
          <a:ln w="9525">
            <a:solidFill>
              <a:srgbClr val="7BB9F0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000000"/>
                </a:solidFill>
                <a:latin typeface="Times New Roman"/>
              </a:rPr>
              <a:t>Frozen classifier </a:t>
            </a:r>
            <a:r>
              <a:rPr sz="850" b="0" i="1" dirty="0">
                <a:solidFill>
                  <a:srgbClr val="000000"/>
                </a:solidFill>
                <a:latin typeface="Times New Roman"/>
              </a:rPr>
              <a:t>f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000000"/>
                </a:solidFill>
                <a:latin typeface="Times New Roman"/>
              </a:rPr>
              <a:t>LR / </a:t>
            </a:r>
            <a:r>
              <a:rPr sz="800" b="0" i="0" dirty="0" err="1">
                <a:solidFill>
                  <a:srgbClr val="000000"/>
                </a:solidFill>
                <a:latin typeface="Times New Roman"/>
              </a:rPr>
              <a:t>MiniRocket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 / 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6000" y="378000"/>
            <a:ext cx="1944000" cy="504000"/>
          </a:xfrm>
          <a:prstGeom prst="roundRect">
            <a:avLst>
              <a:gd name="adj" fmla="val 10000"/>
            </a:avLst>
          </a:prstGeom>
          <a:solidFill>
            <a:srgbClr val="BDDDF7"/>
          </a:solidFill>
          <a:ln w="9525">
            <a:solidFill>
              <a:srgbClr val="7BB9F0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>Monitoring batch 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X*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 (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M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 unlabeled inputs)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>all candidate-label scores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000000"/>
                </a:solidFill>
                <a:latin typeface="Times New Roman"/>
              </a:rPr>
              <a:t>s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(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x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,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y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) available; labels hidden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00" y="1638000"/>
            <a:ext cx="1152000" cy="486000"/>
          </a:xfrm>
          <a:prstGeom prst="roundRect">
            <a:avLst>
              <a:gd name="adj" fmla="val 10000"/>
            </a:avLst>
          </a:prstGeom>
          <a:solidFill>
            <a:srgbClr val="FFE1B5"/>
          </a:solidFill>
          <a:ln w="9525">
            <a:solidFill>
              <a:srgbClr val="F0AD5E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Times New Roman"/>
              </a:rPr>
              <a:t>Fixed pool </a:t>
            </a:r>
            <a:r>
              <a:rPr sz="730" b="0" i="1">
                <a:solidFill>
                  <a:srgbClr val="000000"/>
                </a:solidFill>
                <a:latin typeface="Times New Roman"/>
              </a:rPr>
              <a:t>P</a:t>
            </a:r>
            <a:r>
              <a:rPr sz="730" b="0" i="0">
                <a:solidFill>
                  <a:srgbClr val="000000"/>
                </a:solidFill>
                <a:latin typeface="Times New Roman"/>
              </a:rPr>
              <a:t>: </a:t>
            </a:r>
            <a:r>
              <a:rPr sz="730" b="0" i="1">
                <a:solidFill>
                  <a:srgbClr val="000000"/>
                </a:solidFill>
                <a:latin typeface="Times New Roman"/>
              </a:rPr>
              <a:t>N</a:t>
            </a:r>
            <a:r>
              <a:rPr sz="730" b="0" i="0">
                <a:solidFill>
                  <a:srgbClr val="000000"/>
                </a:solidFill>
                <a:latin typeface="Times New Roman"/>
              </a:rPr>
              <a:t> windows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Times New Roman"/>
              </a:rPr>
              <a:t>true labels hidden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0" i="0">
                <a:solidFill>
                  <a:srgbClr val="000000"/>
                </a:solidFill>
                <a:latin typeface="Times New Roman"/>
              </a:rPr>
              <a:t>uniform random query order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000" y="1638000"/>
            <a:ext cx="1008000" cy="486000"/>
          </a:xfrm>
          <a:prstGeom prst="roundRect">
            <a:avLst>
              <a:gd name="adj" fmla="val 10000"/>
            </a:avLst>
          </a:prstGeom>
          <a:solidFill>
            <a:srgbClr val="FFE1B5"/>
          </a:solidFill>
          <a:ln w="9525">
            <a:solidFill>
              <a:srgbClr val="F0AD5E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>Query next 20 labels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000000"/>
                </a:solidFill>
                <a:latin typeface="Times New Roman"/>
              </a:rPr>
              <a:t>reveal true-label scores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>sort observed prefix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6000" y="1638000"/>
            <a:ext cx="1368000" cy="486000"/>
          </a:xfrm>
          <a:prstGeom prst="roundRect">
            <a:avLst>
              <a:gd name="adj" fmla="val 10000"/>
            </a:avLst>
          </a:prstGeom>
          <a:solidFill>
            <a:srgbClr val="D7EDF2"/>
          </a:solidFill>
          <a:ln w="9525">
            <a:solidFill>
              <a:srgbClr val="8FC4CE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>Update rank bracket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>running intersection: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1">
                <a:solidFill>
                  <a:srgbClr val="000000"/>
                </a:solidFill>
                <a:latin typeface="Times New Roman"/>
              </a:rPr>
              <a:t>L̄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 = max 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L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v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,  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Ū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>
                <a:solidFill>
                  <a:srgbClr val="000000"/>
                </a:solidFill>
                <a:latin typeface="Times New Roman"/>
              </a:rPr>
              <a:t> = min </a:t>
            </a:r>
            <a:r>
              <a:rPr sz="800" b="0" i="1">
                <a:solidFill>
                  <a:srgbClr val="000000"/>
                </a:solidFill>
                <a:latin typeface="Times New Roman"/>
              </a:rPr>
              <a:t>U</a:t>
            </a:r>
            <a:r>
              <a:rPr sz="640" b="0" i="1" baseline="-25000">
                <a:solidFill>
                  <a:srgbClr val="000000"/>
                </a:solidFill>
                <a:latin typeface="Times New Roman"/>
              </a:rPr>
              <a:t>v</a:t>
            </a:r>
          </a:p>
        </p:txBody>
      </p:sp>
      <p:sp>
        <p:nvSpPr>
          <p:cNvPr id="12" name="Diamond 11"/>
          <p:cNvSpPr/>
          <p:nvPr/>
        </p:nvSpPr>
        <p:spPr>
          <a:xfrm>
            <a:off x="4176000" y="1611000"/>
            <a:ext cx="864000" cy="540000"/>
          </a:xfrm>
          <a:prstGeom prst="diamond">
            <a:avLst/>
          </a:prstGeom>
          <a:solidFill>
            <a:srgbClr val="ECECEC"/>
          </a:solidFill>
          <a:ln w="9525">
            <a:solidFill>
              <a:srgbClr val="808080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000000"/>
                </a:solidFill>
                <a:latin typeface="Times New Roman"/>
              </a:rPr>
              <a:t>D</a:t>
            </a:r>
            <a:r>
              <a:rPr sz="720" b="0" i="1" baseline="-25000">
                <a:solidFill>
                  <a:srgbClr val="000000"/>
                </a:solidFill>
                <a:latin typeface="Times New Roman"/>
              </a:rPr>
              <a:t>t</a:t>
            </a:r>
            <a:r>
              <a:rPr sz="900" b="0" i="0">
                <a:solidFill>
                  <a:srgbClr val="000000"/>
                </a:solidFill>
                <a:latin typeface="Times New Roman"/>
              </a:rPr>
              <a:t> ≤ </a:t>
            </a:r>
            <a:r>
              <a:rPr sz="900" b="0" i="1">
                <a:solidFill>
                  <a:srgbClr val="000000"/>
                </a:solidFill>
                <a:latin typeface="Times New Roman"/>
              </a:rPr>
              <a:t>τ</a:t>
            </a:r>
            <a:r>
              <a:rPr sz="900" b="0" i="0">
                <a:solidFill>
                  <a:srgbClr val="000000"/>
                </a:solidFill>
                <a:latin typeface="Times New Roman"/>
              </a:rPr>
              <a:t>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6000" y="1638000"/>
            <a:ext cx="864000" cy="486000"/>
          </a:xfrm>
          <a:prstGeom prst="roundRect">
            <a:avLst>
              <a:gd name="adj" fmla="val 10000"/>
            </a:avLst>
          </a:prstGeom>
          <a:solidFill>
            <a:srgbClr val="F2DCDA"/>
          </a:solidFill>
          <a:ln w="9525">
            <a:solidFill>
              <a:srgbClr val="D49B95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Times New Roman"/>
              </a:rPr>
              <a:t>Return </a:t>
            </a:r>
            <a:r>
              <a:rPr sz="750" b="0" i="1">
                <a:solidFill>
                  <a:srgbClr val="000000"/>
                </a:solidFill>
                <a:latin typeface="Times New Roman"/>
              </a:rPr>
              <a:t>C</a:t>
            </a:r>
            <a:r>
              <a:rPr sz="750" b="0" i="0">
                <a:solidFill>
                  <a:srgbClr val="000000"/>
                </a:solidFill>
                <a:latin typeface="Times New Roman"/>
              </a:rPr>
              <a:t>(</a:t>
            </a:r>
            <a:r>
              <a:rPr sz="750" b="0" i="1">
                <a:solidFill>
                  <a:srgbClr val="000000"/>
                </a:solidFill>
                <a:latin typeface="Times New Roman"/>
              </a:rPr>
              <a:t>x</a:t>
            </a:r>
            <a:r>
              <a:rPr sz="750" b="0" i="0">
                <a:solidFill>
                  <a:srgbClr val="000000"/>
                </a:solidFill>
                <a:latin typeface="Times New Roman"/>
              </a:rPr>
              <a:t>; Ū</a:t>
            </a:r>
            <a:r>
              <a:rPr sz="600" b="0" i="1" baseline="-25000">
                <a:solidFill>
                  <a:srgbClr val="000000"/>
                </a:solidFill>
                <a:latin typeface="Times New Roman"/>
              </a:rPr>
              <a:t>T</a:t>
            </a:r>
            <a:r>
              <a:rPr sz="750" b="0" i="0">
                <a:solidFill>
                  <a:srgbClr val="000000"/>
                </a:solidFill>
                <a:latin typeface="Times New Roman"/>
              </a:rPr>
              <a:t>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000000"/>
                </a:solidFill>
                <a:latin typeface="Times New Roman"/>
              </a:rPr>
              <a:t>stop label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4000" y="2196000"/>
            <a:ext cx="1224000" cy="342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 dirty="0">
                <a:solidFill>
                  <a:srgbClr val="000000"/>
                </a:solidFill>
                <a:latin typeface="Times New Roman"/>
              </a:rPr>
              <a:t>D</a:t>
            </a:r>
            <a:r>
              <a:rPr sz="600" b="0" i="1" baseline="-25000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 = (1/</a:t>
            </a:r>
            <a:r>
              <a:rPr sz="750" b="0" i="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sz="750" b="0" i="1" dirty="0" err="1">
                <a:solidFill>
                  <a:srgbClr val="000000"/>
                </a:solidFill>
                <a:latin typeface="Times New Roman"/>
              </a:rPr>
              <a:t>Σ</a:t>
            </a:r>
            <a:r>
              <a:rPr sz="520" b="0" i="1" baseline="-25000" dirty="0" err="1">
                <a:solidFill>
                  <a:srgbClr val="000000"/>
                </a:solidFill>
                <a:latin typeface="Times New Roman"/>
              </a:rPr>
              <a:t>x∈X</a:t>
            </a:r>
            <a:r>
              <a:rPr sz="520" b="0" i="1" baseline="-25000" dirty="0">
                <a:solidFill>
                  <a:srgbClr val="000000"/>
                </a:solidFill>
                <a:latin typeface="Times New Roman"/>
              </a:rPr>
              <a:t>*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0" dirty="0">
                <a:solidFill>
                  <a:srgbClr val="000000"/>
                </a:solidFill>
                <a:latin typeface="Times New Roman"/>
              </a:rPr>
              <a:t>( |</a:t>
            </a:r>
            <a:r>
              <a:rPr sz="750" b="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750" b="0" i="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; </a:t>
            </a:r>
            <a:r>
              <a:rPr sz="750" b="0" i="0" dirty="0" err="1">
                <a:solidFill>
                  <a:srgbClr val="000000"/>
                </a:solidFill>
                <a:latin typeface="Times New Roman"/>
              </a:rPr>
              <a:t>Ū</a:t>
            </a:r>
            <a:r>
              <a:rPr sz="600" b="0" i="1" baseline="-25000" dirty="0" err="1">
                <a:solidFill>
                  <a:srgbClr val="000000"/>
                </a:solidFill>
                <a:latin typeface="Times New Roman"/>
              </a:rPr>
              <a:t>t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)| − |</a:t>
            </a:r>
            <a:r>
              <a:rPr sz="750" b="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750" b="0" i="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; </a:t>
            </a:r>
            <a:r>
              <a:rPr sz="750" b="0" i="0" dirty="0" err="1">
                <a:solidFill>
                  <a:srgbClr val="000000"/>
                </a:solidFill>
                <a:latin typeface="Times New Roman"/>
              </a:rPr>
              <a:t>L̄</a:t>
            </a:r>
            <a:r>
              <a:rPr sz="600" b="0" i="1" baseline="-25000" dirty="0" err="1">
                <a:solidFill>
                  <a:srgbClr val="000000"/>
                </a:solidFill>
                <a:latin typeface="Times New Roman"/>
              </a:rPr>
              <a:t>t</a:t>
            </a:r>
            <a:r>
              <a:rPr sz="750" b="0" i="0" dirty="0">
                <a:solidFill>
                  <a:srgbClr val="000000"/>
                </a:solidFill>
                <a:latin typeface="Times New Roman"/>
              </a:rPr>
              <a:t>)| 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4000" y="2880000"/>
            <a:ext cx="3600000" cy="792000"/>
          </a:xfrm>
          <a:prstGeom prst="roundRect">
            <a:avLst>
              <a:gd name="adj" fmla="val 5000"/>
            </a:avLst>
          </a:prstGeom>
          <a:solidFill>
            <a:srgbClr val="F1EDF8"/>
          </a:solidFill>
          <a:ln w="9525">
            <a:solidFill>
              <a:srgbClr val="A99CC8"/>
            </a:solidFill>
            <a:prstDash val="dash"/>
          </a:ln>
          <a:effectLst/>
        </p:spPr>
        <p:txBody>
          <a:bodyPr wrap="square" lIns="36000" tIns="10800" rIns="36000" bIns="10800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16000" y="2908800"/>
            <a:ext cx="3456000" cy="14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00000"/>
                </a:solidFill>
                <a:latin typeface="Times New Roman"/>
              </a:rPr>
              <a:t>(b)  Label-free rank calibration — offline, before any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000" y="3060000"/>
            <a:ext cx="3456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000000"/>
                </a:solidFill>
                <a:latin typeface="Times New Roman"/>
              </a:rPr>
              <a:t>Inputs: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, 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k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 = ⌈(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N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+1)(1−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α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)⌉, 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δ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,  checkpoints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000000"/>
                </a:solidFill>
                <a:latin typeface="Times New Roman"/>
              </a:rPr>
              <a:t>Joint (</a:t>
            </a:r>
            <a:r>
              <a:rPr sz="800" b="0" i="1" dirty="0" err="1">
                <a:solidFill>
                  <a:srgbClr val="000000"/>
                </a:solidFill>
                <a:latin typeface="Times New Roman"/>
              </a:rPr>
              <a:t>J</a:t>
            </a:r>
            <a:r>
              <a:rPr sz="640" b="0" i="1" baseline="-25000" dirty="0" err="1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R</a:t>
            </a:r>
            <a:r>
              <a:rPr sz="640" b="0" i="1" baseline="-25000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 rank-path recursion — </a:t>
            </a:r>
            <a:r>
              <a:rPr sz="800" b="0" i="0" dirty="0" err="1">
                <a:solidFill>
                  <a:srgbClr val="000000"/>
                </a:solidFill>
                <a:latin typeface="Times New Roman"/>
              </a:rPr>
              <a:t>Eqs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. (7)–(8)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000000"/>
                </a:solidFill>
                <a:latin typeface="Times New Roman"/>
              </a:rPr>
              <a:t>Outputs calibrated boundaries (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ℓ</a:t>
            </a:r>
            <a:r>
              <a:rPr sz="640" b="0" i="1" baseline="-25000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, </a:t>
            </a:r>
            <a:r>
              <a:rPr sz="800" b="0" i="1" dirty="0" err="1">
                <a:solidFill>
                  <a:srgbClr val="000000"/>
                </a:solidFill>
                <a:latin typeface="Times New Roman"/>
              </a:rPr>
              <a:t>u</a:t>
            </a:r>
            <a:r>
              <a:rPr sz="640" b="0" i="1" baseline="-25000" dirty="0" err="1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 at every checkpoint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8000" y="2880000"/>
            <a:ext cx="2232000" cy="792000"/>
          </a:xfrm>
          <a:prstGeom prst="roundRect">
            <a:avLst>
              <a:gd name="adj" fmla="val 5000"/>
            </a:avLst>
          </a:prstGeom>
          <a:solidFill>
            <a:srgbClr val="F6F6F4"/>
          </a:solidFill>
          <a:ln w="9525">
            <a:solidFill>
              <a:srgbClr val="BFBFBF"/>
            </a:solidFill>
          </a:ln>
          <a:effectLst/>
        </p:spPr>
        <p:txBody>
          <a:bodyPr wrap="square" lIns="36000" tIns="10800" rIns="36000" bIns="1080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42000" y="2908800"/>
            <a:ext cx="2142000" cy="144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000000"/>
                </a:solidFill>
                <a:latin typeface="Times New Roman"/>
              </a:rPr>
              <a:t>Guarantee (prob ≥ 1−</a:t>
            </a:r>
            <a:r>
              <a:rPr sz="780" b="0" i="1">
                <a:solidFill>
                  <a:srgbClr val="000000"/>
                </a:solidFill>
                <a:latin typeface="Times New Roman"/>
              </a:rPr>
              <a:t>δ</a:t>
            </a:r>
            <a:r>
              <a:rPr sz="780" b="0" i="0">
                <a:solidFill>
                  <a:srgbClr val="000000"/>
                </a:solidFill>
                <a:latin typeface="Times New Roman"/>
              </a:rPr>
              <a:t> over query order)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37990" y="3018161"/>
            <a:ext cx="2124000" cy="57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; </a:t>
            </a:r>
            <a:r>
              <a:rPr sz="800" b="0" i="1" dirty="0" err="1">
                <a:solidFill>
                  <a:srgbClr val="000000"/>
                </a:solidFill>
                <a:latin typeface="Times New Roman"/>
              </a:rPr>
              <a:t>q</a:t>
            </a:r>
            <a:r>
              <a:rPr sz="520" b="0" i="1" baseline="-25000" dirty="0" err="1">
                <a:solidFill>
                  <a:srgbClr val="000000"/>
                </a:solidFill>
                <a:latin typeface="Times New Roman"/>
              </a:rPr>
              <a:t>ref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 ⊆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; Ū</a:t>
            </a:r>
            <a:r>
              <a:rPr sz="640" b="0" i="1" baseline="-25000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   for every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x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000000"/>
                </a:solidFill>
                <a:latin typeface="Times New Roman"/>
              </a:rPr>
              <a:t>(1/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M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 </a:t>
            </a:r>
            <a:r>
              <a:rPr sz="800" b="0" i="1" dirty="0" err="1">
                <a:solidFill>
                  <a:srgbClr val="000000"/>
                </a:solidFill>
                <a:latin typeface="Times New Roman"/>
              </a:rPr>
              <a:t>Σ</a:t>
            </a:r>
            <a:r>
              <a:rPr sz="520" b="0" i="1" baseline="-25000" dirty="0" err="1">
                <a:solidFill>
                  <a:srgbClr val="000000"/>
                </a:solidFill>
                <a:latin typeface="Times New Roman"/>
              </a:rPr>
              <a:t>x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 ( |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; Ū</a:t>
            </a:r>
            <a:r>
              <a:rPr sz="640" b="0" i="1" baseline="-25000" dirty="0">
                <a:solidFill>
                  <a:srgbClr val="000000"/>
                </a:solidFill>
                <a:latin typeface="Times New Roman"/>
              </a:rPr>
              <a:t>T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)| − |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(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x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; </a:t>
            </a:r>
            <a:r>
              <a:rPr sz="800" b="0" i="1" dirty="0" err="1">
                <a:solidFill>
                  <a:srgbClr val="000000"/>
                </a:solidFill>
                <a:latin typeface="Times New Roman"/>
              </a:rPr>
              <a:t>q</a:t>
            </a:r>
            <a:r>
              <a:rPr sz="520" b="0" i="1" baseline="-25000" dirty="0" err="1">
                <a:solidFill>
                  <a:srgbClr val="000000"/>
                </a:solidFill>
                <a:latin typeface="Times New Roman"/>
              </a:rPr>
              <a:t>ref</a:t>
            </a:r>
            <a:r>
              <a:rPr sz="800" b="0" i="0" dirty="0">
                <a:solidFill>
                  <a:srgbClr val="000000"/>
                </a:solidFill>
                <a:latin typeface="Times New Roman"/>
              </a:rPr>
              <a:t>)| ) ≤ </a:t>
            </a:r>
            <a:r>
              <a:rPr sz="800" b="0" i="1" dirty="0">
                <a:solidFill>
                  <a:srgbClr val="000000"/>
                </a:solidFill>
                <a:latin typeface="Times New Roman"/>
              </a:rPr>
              <a:t>τ</a:t>
            </a:r>
          </a:p>
        </p:txBody>
      </p:sp>
      <p:cxnSp>
        <p:nvCxnSpPr>
          <p:cNvPr id="21" name="Connector 20"/>
          <p:cNvCxnSpPr>
            <a:stCxn id="6" idx="3"/>
            <a:endCxn id="7" idx="1"/>
          </p:cNvCxnSpPr>
          <p:nvPr/>
        </p:nvCxnSpPr>
        <p:spPr>
          <a:xfrm>
            <a:off x="1368000" y="630000"/>
            <a:ext cx="144000" cy="0"/>
          </a:xfrm>
          <a:prstGeom prst="line">
            <a:avLst/>
          </a:prstGeom>
          <a:ln w="11430">
            <a:solidFill>
              <a:srgbClr val="333333"/>
            </a:solidFill>
            <a:tailEnd type="triangle" w="sm" len="sm"/>
          </a:ln>
          <a:effectLst/>
        </p:spPr>
      </p:cxnSp>
      <p:cxnSp>
        <p:nvCxnSpPr>
          <p:cNvPr id="22" name="Connector 21"/>
          <p:cNvCxnSpPr>
            <a:stCxn id="7" idx="3"/>
            <a:endCxn id="8" idx="1"/>
          </p:cNvCxnSpPr>
          <p:nvPr/>
        </p:nvCxnSpPr>
        <p:spPr>
          <a:xfrm>
            <a:off x="2952000" y="630000"/>
            <a:ext cx="684000" cy="0"/>
          </a:xfrm>
          <a:prstGeom prst="line">
            <a:avLst/>
          </a:prstGeom>
          <a:ln w="11430">
            <a:solidFill>
              <a:srgbClr val="333333"/>
            </a:solidFill>
            <a:tailEnd type="triangle" w="sm" len="sm"/>
          </a:ln>
          <a:effectLst/>
        </p:spPr>
      </p:cxnSp>
      <p:cxnSp>
        <p:nvCxnSpPr>
          <p:cNvPr id="23" name="Connector 22"/>
          <p:cNvCxnSpPr>
            <a:stCxn id="9" idx="3"/>
            <a:endCxn id="10" idx="1"/>
          </p:cNvCxnSpPr>
          <p:nvPr/>
        </p:nvCxnSpPr>
        <p:spPr>
          <a:xfrm>
            <a:off x="1440000" y="1881000"/>
            <a:ext cx="144000" cy="0"/>
          </a:xfrm>
          <a:prstGeom prst="line">
            <a:avLst/>
          </a:prstGeom>
          <a:ln w="11430">
            <a:solidFill>
              <a:srgbClr val="333333"/>
            </a:solidFill>
            <a:tailEnd type="triangle" w="sm" len="sm"/>
          </a:ln>
          <a:effectLst/>
        </p:spPr>
      </p:cxnSp>
      <p:cxnSp>
        <p:nvCxnSpPr>
          <p:cNvPr id="24" name="Connector 23"/>
          <p:cNvCxnSpPr>
            <a:stCxn id="10" idx="3"/>
            <a:endCxn id="11" idx="1"/>
          </p:cNvCxnSpPr>
          <p:nvPr/>
        </p:nvCxnSpPr>
        <p:spPr>
          <a:xfrm>
            <a:off x="2592000" y="1881000"/>
            <a:ext cx="144000" cy="0"/>
          </a:xfrm>
          <a:prstGeom prst="line">
            <a:avLst/>
          </a:prstGeom>
          <a:ln w="11430">
            <a:solidFill>
              <a:srgbClr val="333333"/>
            </a:solidFill>
            <a:tailEnd type="triangle" w="sm" len="sm"/>
          </a:ln>
          <a:effectLst/>
        </p:spPr>
      </p:cxnSp>
      <p:cxnSp>
        <p:nvCxnSpPr>
          <p:cNvPr id="25" name="Connector 24"/>
          <p:cNvCxnSpPr>
            <a:stCxn id="11" idx="3"/>
            <a:endCxn id="12" idx="1"/>
          </p:cNvCxnSpPr>
          <p:nvPr/>
        </p:nvCxnSpPr>
        <p:spPr>
          <a:xfrm>
            <a:off x="4104000" y="1881000"/>
            <a:ext cx="72000" cy="0"/>
          </a:xfrm>
          <a:prstGeom prst="line">
            <a:avLst/>
          </a:prstGeom>
          <a:ln w="11430">
            <a:solidFill>
              <a:srgbClr val="333333"/>
            </a:solidFill>
            <a:tailEnd type="triangle" w="sm" len="sm"/>
          </a:ln>
          <a:effectLst/>
        </p:spPr>
      </p:cxnSp>
      <p:cxnSp>
        <p:nvCxnSpPr>
          <p:cNvPr id="26" name="Connector 25"/>
          <p:cNvCxnSpPr>
            <a:stCxn id="12" idx="3"/>
            <a:endCxn id="13" idx="1"/>
          </p:cNvCxnSpPr>
          <p:nvPr/>
        </p:nvCxnSpPr>
        <p:spPr>
          <a:xfrm>
            <a:off x="5040000" y="1881000"/>
            <a:ext cx="216000" cy="0"/>
          </a:xfrm>
          <a:prstGeom prst="line">
            <a:avLst/>
          </a:prstGeom>
          <a:ln w="11430">
            <a:solidFill>
              <a:srgbClr val="333333"/>
            </a:solidFill>
            <a:tailEnd type="triangle" w="sm" len="sm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5037410" y="1717640"/>
            <a:ext cx="252000" cy="126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0" i="1" dirty="0">
                <a:solidFill>
                  <a:srgbClr val="000000"/>
                </a:solidFill>
                <a:latin typeface="Times New Roman"/>
              </a:rPr>
              <a:t>Yes</a:t>
            </a:r>
          </a:p>
        </p:txBody>
      </p:sp>
      <p:sp>
        <p:nvSpPr>
          <p:cNvPr id="28" name="Freeform 27"/>
          <p:cNvSpPr/>
          <p:nvPr/>
        </p:nvSpPr>
        <p:spPr>
          <a:xfrm>
            <a:off x="864000" y="864000"/>
            <a:ext cx="1368000" cy="792000"/>
          </a:xfrm>
          <a:custGeom>
            <a:avLst/>
            <a:gdLst/>
            <a:ahLst/>
            <a:cxnLst/>
            <a:rect l="l" t="t" r="r" b="b"/>
            <a:pathLst>
              <a:path w="38" h="22">
                <a:moveTo>
                  <a:pt x="38" y="0"/>
                </a:moveTo>
                <a:lnTo>
                  <a:pt x="38" y="11"/>
                </a:lnTo>
                <a:lnTo>
                  <a:pt x="0" y="11"/>
                </a:lnTo>
                <a:lnTo>
                  <a:pt x="0" y="22"/>
                </a:lnTo>
              </a:path>
            </a:pathLst>
          </a:custGeom>
          <a:noFill/>
          <a:ln w="11430">
            <a:solidFill>
              <a:srgbClr val="33333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" name="Connector 28"/>
          <p:cNvCxnSpPr>
            <a:stCxn id="8" idx="2"/>
            <a:endCxn id="12" idx="0"/>
          </p:cNvCxnSpPr>
          <p:nvPr/>
        </p:nvCxnSpPr>
        <p:spPr>
          <a:xfrm>
            <a:off x="4608000" y="882000"/>
            <a:ext cx="0" cy="729000"/>
          </a:xfrm>
          <a:prstGeom prst="line">
            <a:avLst/>
          </a:prstGeom>
          <a:ln w="11430">
            <a:solidFill>
              <a:srgbClr val="333333"/>
            </a:solidFill>
            <a:prstDash val="dash"/>
            <a:tailEnd type="triangle" w="sm" len="sm"/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4662000" y="1044000"/>
            <a:ext cx="792000" cy="162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000000"/>
                </a:solidFill>
                <a:latin typeface="Times New Roman"/>
              </a:rPr>
              <a:t>monitoring scores</a:t>
            </a:r>
          </a:p>
        </p:txBody>
      </p:sp>
      <p:sp>
        <p:nvSpPr>
          <p:cNvPr id="31" name="Freeform 30"/>
          <p:cNvSpPr/>
          <p:nvPr/>
        </p:nvSpPr>
        <p:spPr>
          <a:xfrm>
            <a:off x="5580000" y="648000"/>
            <a:ext cx="108000" cy="1008000"/>
          </a:xfrm>
          <a:custGeom>
            <a:avLst/>
            <a:gdLst/>
            <a:ahLst/>
            <a:cxnLst/>
            <a:rect l="l" t="t" r="r" b="b"/>
            <a:pathLst>
              <a:path w="3" h="28">
                <a:moveTo>
                  <a:pt x="3" y="28"/>
                </a:moveTo>
                <a:lnTo>
                  <a:pt x="3" y="0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33333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88000" y="187200"/>
            <a:ext cx="1332000" cy="1980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000000"/>
                </a:solidFill>
                <a:latin typeface="Times New Roman"/>
              </a:rPr>
              <a:t>prediction sets C</a:t>
            </a:r>
            <a:r>
              <a:rPr sz="700" b="0" i="0">
                <a:solidFill>
                  <a:srgbClr val="000000"/>
                </a:solidFill>
                <a:latin typeface="Times New Roman"/>
              </a:rPr>
              <a:t>(</a:t>
            </a:r>
            <a:r>
              <a:rPr sz="700" b="0" i="1">
                <a:solidFill>
                  <a:srgbClr val="000000"/>
                </a:solidFill>
                <a:latin typeface="Times New Roman"/>
              </a:rPr>
              <a:t>x</a:t>
            </a:r>
            <a:r>
              <a:rPr sz="700" b="0" i="0">
                <a:solidFill>
                  <a:srgbClr val="000000"/>
                </a:solidFill>
                <a:latin typeface="Times New Roman"/>
              </a:rPr>
              <a:t>; Ū</a:t>
            </a:r>
            <a:r>
              <a:rPr sz="560" b="0" i="1" baseline="-25000">
                <a:solidFill>
                  <a:srgbClr val="000000"/>
                </a:solidFill>
                <a:latin typeface="Times New Roman"/>
              </a:rPr>
              <a:t>T</a:t>
            </a:r>
            <a:r>
              <a:rPr sz="700" b="0" i="0">
                <a:solidFill>
                  <a:srgbClr val="000000"/>
                </a:solidFill>
                <a:latin typeface="Times New Roman"/>
              </a:rPr>
              <a:t>)</a:t>
            </a:r>
          </a:p>
        </p:txBody>
      </p:sp>
      <p:sp>
        <p:nvSpPr>
          <p:cNvPr id="33" name="Freeform 32"/>
          <p:cNvSpPr/>
          <p:nvPr/>
        </p:nvSpPr>
        <p:spPr>
          <a:xfrm>
            <a:off x="2088000" y="2124000"/>
            <a:ext cx="2520000" cy="540000"/>
          </a:xfrm>
          <a:custGeom>
            <a:avLst/>
            <a:gdLst/>
            <a:ahLst/>
            <a:cxnLst/>
            <a:rect l="l" t="t" r="r" b="b"/>
            <a:pathLst>
              <a:path w="70" h="15">
                <a:moveTo>
                  <a:pt x="70" y="1"/>
                </a:moveTo>
                <a:lnTo>
                  <a:pt x="70" y="15"/>
                </a:lnTo>
                <a:lnTo>
                  <a:pt x="0" y="15"/>
                </a:lnTo>
                <a:lnTo>
                  <a:pt x="0" y="0"/>
                </a:lnTo>
              </a:path>
            </a:pathLst>
          </a:custGeom>
          <a:noFill/>
          <a:ln w="11430">
            <a:solidFill>
              <a:srgbClr val="333333"/>
            </a:solidFill>
            <a:tailEnd type="triangle" w="sm" len="sm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826000" y="2523380"/>
            <a:ext cx="1584000" cy="115200"/>
          </a:xfrm>
          <a:prstGeom prst="rect">
            <a:avLst/>
          </a:prstGeom>
          <a:noFill/>
        </p:spPr>
        <p:txBody>
          <a:bodyPr wrap="square" lIns="36000" tIns="10800" rIns="36000" bIns="1080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1" dirty="0">
                <a:solidFill>
                  <a:srgbClr val="000000"/>
                </a:solidFill>
                <a:latin typeface="Times New Roman"/>
              </a:rPr>
              <a:t>No: next query batch</a:t>
            </a:r>
          </a:p>
        </p:txBody>
      </p:sp>
      <p:sp>
        <p:nvSpPr>
          <p:cNvPr id="35" name="Freeform 34"/>
          <p:cNvSpPr/>
          <p:nvPr/>
        </p:nvSpPr>
        <p:spPr>
          <a:xfrm>
            <a:off x="3816000" y="2124000"/>
            <a:ext cx="0" cy="756000"/>
          </a:xfrm>
          <a:custGeom>
            <a:avLst/>
            <a:gdLst/>
            <a:ahLst/>
            <a:cxnLst/>
            <a:rect l="l" t="t" r="r" b="b"/>
            <a:pathLst>
              <a:path h="21">
                <a:moveTo>
                  <a:pt x="0" y="21"/>
                </a:moveTo>
                <a:lnTo>
                  <a:pt x="0" y="0"/>
                </a:lnTo>
              </a:path>
            </a:pathLst>
          </a:custGeom>
          <a:noFill/>
          <a:ln w="11430">
            <a:solidFill>
              <a:srgbClr val="333333"/>
            </a:solidFill>
            <a:prstDash val="dash"/>
            <a:tailEnd type="triangle" w="sm" len="sm"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263</Words>
  <Application>Microsoft Office PowerPoint</Application>
  <PresentationFormat>自定义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绵绵</dc:creator>
  <cp:keywords/>
  <dc:description>generated using python-pptx</dc:description>
  <cp:lastModifiedBy>绵 绵</cp:lastModifiedBy>
  <cp:revision>2</cp:revision>
  <dcterms:created xsi:type="dcterms:W3CDTF">2013-01-27T09:14:16Z</dcterms:created>
  <dcterms:modified xsi:type="dcterms:W3CDTF">2026-09-16T05:13:50Z</dcterms:modified>
  <cp:category/>
</cp:coreProperties>
</file>